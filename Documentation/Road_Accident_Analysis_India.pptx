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3.xml" ContentType="application/vnd.openxmlformats-officedocument.drawingml.chart+xml"/>
  <Override PartName="/ppt/notesSlides/notesSlide26.xml" ContentType="application/vnd.openxmlformats-officedocument.presentationml.notesSlide+xml"/>
  <Override PartName="/ppt/charts/chart14.xml" ContentType="application/vnd.openxmlformats-officedocument.drawingml.chart+xml"/>
  <Override PartName="/ppt/notesSlides/notesSlide27.xml" ContentType="application/vnd.openxmlformats-officedocument.presentationml.notesSlide+xml"/>
  <Override PartName="/ppt/charts/chart15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5F84A5-4DAD-07F9-EF3A-BC2A441F0F9E}">
          <p14:sldIdLst>
            <p14:sldId id="256"/>
            <p14:sldId id="257"/>
          </p14:sldIdLst>
        </p14:section>
        <p14:section name="Data &amp; Cleaning" id="{712F55E6-4073-3039-7560-69C6400B2FDD}">
          <p14:sldIdLst>
            <p14:sldId id="258"/>
            <p14:sldId id="259"/>
            <p14:sldId id="260"/>
            <p14:sldId id="261"/>
          </p14:sldIdLst>
        </p14:section>
        <p14:section name="Part A: Patterns" id="{CB976641-39FB-1EAE-EC94-5CBFED3FE874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art B: Causes" id="{E384D097-705C-8875-D952-95F288D357A1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art C: High-Risk Factors" id="{A72D8446-2FF8-238B-B8D5-A32516E7E491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onclusion" id="{C10F94C2-4961-01D7-3BFC-F101902C0734}">
          <p14:sldIdLst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y infant" userId="9c6506e34e5b2e93" providerId="LiveId" clId="{3FA0C7EC-7CDB-4A35-9C52-89E69238ED5A}"/>
    <pc:docChg chg="modSld">
      <pc:chgData name="dony infant" userId="9c6506e34e5b2e93" providerId="LiveId" clId="{3FA0C7EC-7CDB-4A35-9C52-89E69238ED5A}" dt="2026-10-09T14:39:14.404" v="7" actId="20577"/>
      <pc:docMkLst>
        <pc:docMk/>
      </pc:docMkLst>
      <pc:sldChg chg="modSp mod">
        <pc:chgData name="dony infant" userId="9c6506e34e5b2e93" providerId="LiveId" clId="{3FA0C7EC-7CDB-4A35-9C52-89E69238ED5A}" dt="2026-10-09T14:39:14.404" v="7" actId="20577"/>
        <pc:sldMkLst>
          <pc:docMk/>
          <pc:sldMk cId="0" sldId="258"/>
        </pc:sldMkLst>
        <pc:graphicFrameChg chg="modGraphic">
          <ac:chgData name="dony infant" userId="9c6506e34e5b2e93" providerId="LiveId" clId="{3FA0C7EC-7CDB-4A35-9C52-89E69238ED5A}" dt="2026-10-09T14:39:14.404" v="7" actId="20577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Count (in thousands)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ln w="31750" cap="flat">
              <a:solidFill>
                <a:srgbClr val="3D4A5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3D4A57"/>
              </a:solidFill>
              <a:ln w="9525" cap="flat">
                <a:solidFill>
                  <a:srgbClr val="3D4A57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489</c:v>
                </c:pt>
                <c:pt idx="1">
                  <c:v>506</c:v>
                </c:pt>
                <c:pt idx="2">
                  <c:v>485</c:v>
                </c:pt>
                <c:pt idx="3">
                  <c:v>469</c:v>
                </c:pt>
                <c:pt idx="4">
                  <c:v>470</c:v>
                </c:pt>
                <c:pt idx="5">
                  <c:v>457</c:v>
                </c:pt>
                <c:pt idx="6">
                  <c:v>372</c:v>
                </c:pt>
                <c:pt idx="7">
                  <c:v>412</c:v>
                </c:pt>
                <c:pt idx="8">
                  <c:v>461</c:v>
                </c:pt>
                <c:pt idx="9">
                  <c:v>481</c:v>
                </c:pt>
                <c:pt idx="10">
                  <c:v>488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EE-4B0E-B473-1993A8F65A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Injured</c:v>
                </c:pt>
              </c:strCache>
            </c:strRef>
          </c:tx>
          <c:spPr>
            <a:ln w="31750" cap="flat">
              <a:solidFill>
                <a:srgbClr val="9AA3A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A3AB"/>
              </a:solidFill>
              <a:ln w="9525" cap="flat">
                <a:solidFill>
                  <a:srgbClr val="9AA3A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493</c:v>
                </c:pt>
                <c:pt idx="1">
                  <c:v>504</c:v>
                </c:pt>
                <c:pt idx="2">
                  <c:v>498</c:v>
                </c:pt>
                <c:pt idx="3">
                  <c:v>467</c:v>
                </c:pt>
                <c:pt idx="4">
                  <c:v>465</c:v>
                </c:pt>
                <c:pt idx="5">
                  <c:v>449</c:v>
                </c:pt>
                <c:pt idx="6">
                  <c:v>347</c:v>
                </c:pt>
                <c:pt idx="7">
                  <c:v>384</c:v>
                </c:pt>
                <c:pt idx="8">
                  <c:v>443</c:v>
                </c:pt>
                <c:pt idx="9">
                  <c:v>463</c:v>
                </c:pt>
                <c:pt idx="10">
                  <c:v>471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EE-4B0E-B473-1993A8F65A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Deaths</c:v>
                </c:pt>
              </c:strCache>
            </c:strRef>
          </c:tx>
          <c:spPr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140</c:v>
                </c:pt>
                <c:pt idx="1">
                  <c:v>147</c:v>
                </c:pt>
                <c:pt idx="2">
                  <c:v>151</c:v>
                </c:pt>
                <c:pt idx="3">
                  <c:v>150</c:v>
                </c:pt>
                <c:pt idx="4">
                  <c:v>158</c:v>
                </c:pt>
                <c:pt idx="5">
                  <c:v>159</c:v>
                </c:pt>
                <c:pt idx="6">
                  <c:v>138</c:v>
                </c:pt>
                <c:pt idx="7">
                  <c:v>154</c:v>
                </c:pt>
                <c:pt idx="8">
                  <c:v>168</c:v>
                </c:pt>
                <c:pt idx="9">
                  <c:v>173</c:v>
                </c:pt>
                <c:pt idx="10">
                  <c:v>177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EE-4B0E-B473-1993A8F65A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660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Deaths per 100 accidents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 per 100 accidents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37.18</c:v>
                </c:pt>
                <c:pt idx="1">
                  <c:v>37.33</c:v>
                </c:pt>
                <c:pt idx="2">
                  <c:v>36.520000000000003</c:v>
                </c:pt>
                <c:pt idx="3">
                  <c:v>35.979999999999997</c:v>
                </c:pt>
                <c:pt idx="4">
                  <c:v>36.33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78-4F51-AE29-5292B03741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3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vehicles (millions)</c:v>
                </c:pt>
              </c:strCache>
            </c:strRef>
          </c:tx>
          <c:spPr>
            <a:solidFill>
              <a:srgbClr val="9AA3A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190.7</c:v>
                </c:pt>
                <c:pt idx="1">
                  <c:v>210</c:v>
                </c:pt>
                <c:pt idx="2">
                  <c:v>230</c:v>
                </c:pt>
                <c:pt idx="3">
                  <c:v>253.3</c:v>
                </c:pt>
                <c:pt idx="4">
                  <c:v>272.60000000000002</c:v>
                </c:pt>
                <c:pt idx="5">
                  <c:v>295.8</c:v>
                </c:pt>
                <c:pt idx="6">
                  <c:v>326.3</c:v>
                </c:pt>
                <c:pt idx="7">
                  <c:v>335.6</c:v>
                </c:pt>
                <c:pt idx="8">
                  <c:v>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0E-4E08-B807-E1AEB4970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Deaths per 10,000 vehicles</c:v>
                </c:pt>
              </c:strCache>
            </c:strRef>
          </c:tx>
          <c:spPr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</c:v>
                </c:pt>
                <c:pt idx="1">
                  <c:v>7</c:v>
                </c:pt>
                <c:pt idx="2">
                  <c:v>6.6</c:v>
                </c:pt>
                <c:pt idx="3">
                  <c:v>5.9</c:v>
                </c:pt>
                <c:pt idx="4">
                  <c:v>5.8</c:v>
                </c:pt>
                <c:pt idx="5">
                  <c:v>5.4</c:v>
                </c:pt>
                <c:pt idx="6">
                  <c:v>4.2</c:v>
                </c:pt>
                <c:pt idx="7">
                  <c:v>4.5999999999999996</c:v>
                </c:pt>
                <c:pt idx="8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0E-4E08-B807-E1AEB4970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6606A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6606A"/>
                    </a:solidFill>
                    <a:latin typeface="Arial"/>
                  </a:rPr>
                  <a:t>Vehicles (millions)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8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8102E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C8102E"/>
                    </a:solidFill>
                    <a:latin typeface="Arial"/>
                  </a:rPr>
                  <a:t>Deaths per 10k vehicles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102E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660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F2329"/>
                </a:solidFill>
                <a:latin typeface="+mn-lt"/>
              </a:rPr>
              <a:t>Red = above India average (36.3)   Green = below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 per 100 accidents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2C-4836-AF1E-011E84363C6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32C-4836-AF1E-011E84363C6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32C-4836-AF1E-011E84363C6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32C-4836-AF1E-011E84363C6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32C-4836-AF1E-011E84363C64}"/>
              </c:ext>
            </c:extLst>
          </c:dPt>
          <c:dPt>
            <c:idx val="5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2C-4836-AF1E-011E84363C64}"/>
              </c:ext>
            </c:extLst>
          </c:dPt>
          <c:dPt>
            <c:idx val="6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32C-4836-AF1E-011E84363C64}"/>
              </c:ext>
            </c:extLst>
          </c:dPt>
          <c:dPt>
            <c:idx val="7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32C-4836-AF1E-011E84363C64}"/>
              </c:ext>
            </c:extLst>
          </c:dPt>
          <c:dPt>
            <c:idx val="8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32C-4836-AF1E-011E84363C64}"/>
              </c:ext>
            </c:extLst>
          </c:dPt>
          <c:dPt>
            <c:idx val="9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32C-4836-AF1E-011E84363C6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Bihar</c:v>
                </c:pt>
                <c:pt idx="1">
                  <c:v>Jharkhand</c:v>
                </c:pt>
                <c:pt idx="2">
                  <c:v>Punjab</c:v>
                </c:pt>
                <c:pt idx="3">
                  <c:v>Uttarakhand</c:v>
                </c:pt>
                <c:pt idx="4">
                  <c:v>Uttar Pradesh</c:v>
                </c:pt>
                <c:pt idx="5">
                  <c:v>Madhya Pradesh</c:v>
                </c:pt>
                <c:pt idx="6">
                  <c:v>Puducherry</c:v>
                </c:pt>
                <c:pt idx="7">
                  <c:v>Jammu &amp; Kashmir</c:v>
                </c:pt>
                <c:pt idx="8">
                  <c:v>Goa</c:v>
                </c:pt>
                <c:pt idx="9">
                  <c:v>Kerala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80.5</c:v>
                </c:pt>
                <c:pt idx="1">
                  <c:v>79.2</c:v>
                </c:pt>
                <c:pt idx="2">
                  <c:v>78.5</c:v>
                </c:pt>
                <c:pt idx="3">
                  <c:v>62.4</c:v>
                </c:pt>
                <c:pt idx="4">
                  <c:v>52.4</c:v>
                </c:pt>
                <c:pt idx="5">
                  <c:v>26.1</c:v>
                </c:pt>
                <c:pt idx="6">
                  <c:v>15.2</c:v>
                </c:pt>
                <c:pt idx="7">
                  <c:v>14.3</c:v>
                </c:pt>
                <c:pt idx="8">
                  <c:v>10.7</c:v>
                </c:pt>
                <c:pt idx="9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32C-4836-AF1E-011E84363C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t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F2329"/>
                </a:solidFill>
                <a:latin typeface="+mn-lt"/>
              </a:rPr>
              <a:t>Top 5 states by growth in deaths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Chhattisgarh</c:v>
                </c:pt>
                <c:pt idx="1">
                  <c:v>Bihar</c:v>
                </c:pt>
                <c:pt idx="2">
                  <c:v>Maharashtra</c:v>
                </c:pt>
                <c:pt idx="3">
                  <c:v>Jharkhand</c:v>
                </c:pt>
                <c:pt idx="4">
                  <c:v>Madhya Pradesh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50.8</c:v>
                </c:pt>
                <c:pt idx="1">
                  <c:v>39.5</c:v>
                </c:pt>
                <c:pt idx="2">
                  <c:v>35.799999999999997</c:v>
                </c:pt>
                <c:pt idx="3">
                  <c:v>35.200000000000003</c:v>
                </c:pt>
                <c:pt idx="4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7-48C8-B88F-7143F9D176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 per 100k</c:v>
                </c:pt>
              </c:strCache>
            </c:strRef>
          </c:tx>
          <c:spPr>
            <a:solidFill>
              <a:srgbClr val="9AA3A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D0-4785-8F0D-1EBA884C2B6A}"/>
              </c:ext>
            </c:extLst>
          </c:dPt>
          <c:dPt>
            <c:idx val="1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D0-4785-8F0D-1EBA884C2B6A}"/>
              </c:ext>
            </c:extLst>
          </c:dPt>
          <c:dPt>
            <c:idx val="2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D0-4785-8F0D-1EBA884C2B6A}"/>
              </c:ext>
            </c:extLst>
          </c:dPt>
          <c:dPt>
            <c:idx val="3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D0-4785-8F0D-1EBA884C2B6A}"/>
              </c:ext>
            </c:extLst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4D0-4785-8F0D-1EBA884C2B6A}"/>
              </c:ext>
            </c:extLst>
          </c:dPt>
          <c:dPt>
            <c:idx val="5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4D0-4785-8F0D-1EBA884C2B6A}"/>
              </c:ext>
            </c:extLst>
          </c:dPt>
          <c:dPt>
            <c:idx val="6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4D0-4785-8F0D-1EBA884C2B6A}"/>
              </c:ext>
            </c:extLst>
          </c:dPt>
          <c:dPt>
            <c:idx val="7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4D0-4785-8F0D-1EBA884C2B6A}"/>
              </c:ext>
            </c:extLst>
          </c:dPt>
          <c:dPt>
            <c:idx val="8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4D0-4785-8F0D-1EBA884C2B6A}"/>
              </c:ext>
            </c:extLst>
          </c:dPt>
          <c:dPt>
            <c:idx val="9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4D0-4785-8F0D-1EBA884C2B6A}"/>
              </c:ext>
            </c:extLst>
          </c:dPt>
          <c:dPt>
            <c:idx val="10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4D0-4785-8F0D-1EBA884C2B6A}"/>
              </c:ext>
            </c:extLst>
          </c:dPt>
          <c:dPt>
            <c:idx val="11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34D0-4785-8F0D-1EBA884C2B6A}"/>
              </c:ext>
            </c:extLst>
          </c:dPt>
          <c:dPt>
            <c:idx val="12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34D0-4785-8F0D-1EBA884C2B6A}"/>
              </c:ext>
            </c:extLst>
          </c:dPt>
          <c:dPt>
            <c:idx val="13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34D0-4785-8F0D-1EBA884C2B6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Russian Fed.</c:v>
                </c:pt>
                <c:pt idx="2">
                  <c:v>Pakistan</c:v>
                </c:pt>
                <c:pt idx="3">
                  <c:v>Bangladesh</c:v>
                </c:pt>
                <c:pt idx="4">
                  <c:v>India</c:v>
                </c:pt>
                <c:pt idx="5">
                  <c:v>South Asia</c:v>
                </c:pt>
                <c:pt idx="6">
                  <c:v>Brazil</c:v>
                </c:pt>
                <c:pt idx="7">
                  <c:v>World</c:v>
                </c:pt>
                <c:pt idx="8">
                  <c:v>China</c:v>
                </c:pt>
                <c:pt idx="9">
                  <c:v>Sri Lanka</c:v>
                </c:pt>
                <c:pt idx="10">
                  <c:v>Nigeria</c:v>
                </c:pt>
                <c:pt idx="11">
                  <c:v>South Africa</c:v>
                </c:pt>
                <c:pt idx="12">
                  <c:v>Kenya</c:v>
                </c:pt>
                <c:pt idx="13">
                  <c:v>Viet Nam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11.3</c:v>
                </c:pt>
                <c:pt idx="1">
                  <c:v>12</c:v>
                </c:pt>
                <c:pt idx="2">
                  <c:v>13</c:v>
                </c:pt>
                <c:pt idx="3">
                  <c:v>15.3</c:v>
                </c:pt>
                <c:pt idx="4">
                  <c:v>15.6</c:v>
                </c:pt>
                <c:pt idx="5">
                  <c:v>15.6</c:v>
                </c:pt>
                <c:pt idx="6">
                  <c:v>16</c:v>
                </c:pt>
                <c:pt idx="7">
                  <c:v>16.7</c:v>
                </c:pt>
                <c:pt idx="8">
                  <c:v>17.399999999999999</c:v>
                </c:pt>
                <c:pt idx="9">
                  <c:v>19.7</c:v>
                </c:pt>
                <c:pt idx="10">
                  <c:v>20.7</c:v>
                </c:pt>
                <c:pt idx="11">
                  <c:v>22.2</c:v>
                </c:pt>
                <c:pt idx="12">
                  <c:v>28.3</c:v>
                </c:pt>
                <c:pt idx="13">
                  <c:v>30.6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34D0-4785-8F0D-1EBA884C2B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t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% share of deaths, 2024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deaths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47-45CD-BB46-B1A8C96F2335}"/>
              </c:ext>
            </c:extLst>
          </c:dPt>
          <c:dPt>
            <c:idx val="1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47-45CD-BB46-B1A8C96F2335}"/>
              </c:ext>
            </c:extLst>
          </c:dPt>
          <c:dPt>
            <c:idx val="2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47-45CD-BB46-B1A8C96F2335}"/>
              </c:ext>
            </c:extLst>
          </c:dPt>
          <c:dPt>
            <c:idx val="3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47-45CD-BB46-B1A8C96F2335}"/>
              </c:ext>
            </c:extLst>
          </c:dPt>
          <c:dPt>
            <c:idx val="4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47-45CD-BB46-B1A8C96F2335}"/>
              </c:ext>
            </c:extLst>
          </c:dPt>
          <c:dPt>
            <c:idx val="5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47-45CD-BB46-B1A8C96F233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Over-speeding</c:v>
                </c:pt>
                <c:pt idx="1">
                  <c:v>Others</c:v>
                </c:pt>
                <c:pt idx="2">
                  <c:v>Wrong side driving</c:v>
                </c:pt>
                <c:pt idx="3">
                  <c:v>Drunk driving</c:v>
                </c:pt>
                <c:pt idx="4">
                  <c:v>Mobile phone</c:v>
                </c:pt>
                <c:pt idx="5">
                  <c:v>Red light jumping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70.3</c:v>
                </c:pt>
                <c:pt idx="1">
                  <c:v>21.8</c:v>
                </c:pt>
                <c:pt idx="2">
                  <c:v>4.7</c:v>
                </c:pt>
                <c:pt idx="3">
                  <c:v>1.8</c:v>
                </c:pt>
                <c:pt idx="4">
                  <c:v>1.1000000000000001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447-45CD-BB46-B1A8C96F23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t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Deaths, 2024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</c:v>
                </c:pt>
              </c:strCache>
            </c:strRef>
          </c:tx>
          <c:spPr>
            <a:solidFill>
              <a:srgbClr val="3D4A5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E8-4073-9EDE-BD61F09E53F2}"/>
              </c:ext>
            </c:extLst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E8-4073-9EDE-BD61F09E53F2}"/>
              </c:ext>
            </c:extLst>
          </c:dPt>
          <c:dPt>
            <c:idx val="2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E8-4073-9EDE-BD61F09E53F2}"/>
              </c:ext>
            </c:extLst>
          </c:dPt>
          <c:dPt>
            <c:idx val="3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E8-4073-9EDE-BD61F09E53F2}"/>
              </c:ext>
            </c:extLst>
          </c:dPt>
          <c:dPt>
            <c:idx val="4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E8-4073-9EDE-BD61F09E53F2}"/>
              </c:ext>
            </c:extLst>
          </c:dPt>
          <c:dPt>
            <c:idx val="5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E8-4073-9EDE-BD61F09E53F2}"/>
              </c:ext>
            </c:extLst>
          </c:dPt>
          <c:dPt>
            <c:idx val="6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1E8-4073-9EDE-BD61F09E53F2}"/>
              </c:ext>
            </c:extLst>
          </c:dPt>
          <c:dPt>
            <c:idx val="7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1E8-4073-9EDE-BD61F09E53F2}"/>
              </c:ext>
            </c:extLst>
          </c:dPt>
          <c:dPt>
            <c:idx val="8"/>
            <c:invertIfNegative val="0"/>
            <c:bubble3D val="0"/>
            <c:spPr>
              <a:solidFill>
                <a:srgbClr val="3D4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1E8-4073-9EDE-BD61F09E53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Hit from back</c:v>
                </c:pt>
                <c:pt idx="1">
                  <c:v>Hit and run</c:v>
                </c:pt>
                <c:pt idx="2">
                  <c:v>Head-on</c:v>
                </c:pt>
                <c:pt idx="3">
                  <c:v>Others</c:v>
                </c:pt>
                <c:pt idx="4">
                  <c:v>Hit from side</c:v>
                </c:pt>
                <c:pt idx="5">
                  <c:v>Run off road</c:v>
                </c:pt>
                <c:pt idx="6">
                  <c:v>Vehicle overturn</c:v>
                </c:pt>
                <c:pt idx="7">
                  <c:v>Fixed object</c:v>
                </c:pt>
                <c:pt idx="8">
                  <c:v>Parked vehicle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37404</c:v>
                </c:pt>
                <c:pt idx="1">
                  <c:v>34030</c:v>
                </c:pt>
                <c:pt idx="2">
                  <c:v>28400</c:v>
                </c:pt>
                <c:pt idx="3">
                  <c:v>26282</c:v>
                </c:pt>
                <c:pt idx="4">
                  <c:v>21716</c:v>
                </c:pt>
                <c:pt idx="5">
                  <c:v>8917</c:v>
                </c:pt>
                <c:pt idx="6">
                  <c:v>8419</c:v>
                </c:pt>
                <c:pt idx="7">
                  <c:v>7521</c:v>
                </c:pt>
                <c:pt idx="8">
                  <c:v>4486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1E8-4073-9EDE-BD61F09E53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0"/>
          <c:min val="0"/>
        </c:scaling>
        <c:delete val="0"/>
        <c:axPos val="t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Deaths per 100 accidents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3A-4177-A03A-4E6DC34027D2}"/>
              </c:ext>
            </c:extLst>
          </c:dPt>
          <c:dPt>
            <c:idx val="1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3A-4177-A03A-4E6DC34027D2}"/>
              </c:ext>
            </c:extLst>
          </c:dPt>
          <c:dPt>
            <c:idx val="2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3A-4177-A03A-4E6DC34027D2}"/>
              </c:ext>
            </c:extLst>
          </c:dPt>
          <c:dPt>
            <c:idx val="3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3A-4177-A03A-4E6DC34027D2}"/>
              </c:ext>
            </c:extLst>
          </c:dPt>
          <c:dPt>
            <c:idx val="4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E3A-4177-A03A-4E6DC34027D2}"/>
              </c:ext>
            </c:extLst>
          </c:dPt>
          <c:dPt>
            <c:idx val="5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E3A-4177-A03A-4E6DC34027D2}"/>
              </c:ext>
            </c:extLst>
          </c:dPt>
          <c:dPt>
            <c:idx val="6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E3A-4177-A03A-4E6DC34027D2}"/>
              </c:ext>
            </c:extLst>
          </c:dPt>
          <c:dPt>
            <c:idx val="7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E3A-4177-A03A-4E6DC34027D2}"/>
              </c:ext>
            </c:extLst>
          </c:dPt>
          <c:dPt>
            <c:idx val="8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E3A-4177-A03A-4E6DC34027D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Hit and run</c:v>
                </c:pt>
                <c:pt idx="1">
                  <c:v>Vehicle overturn</c:v>
                </c:pt>
                <c:pt idx="2">
                  <c:v>Run off road</c:v>
                </c:pt>
                <c:pt idx="3">
                  <c:v>Fixed object</c:v>
                </c:pt>
                <c:pt idx="4">
                  <c:v>Parked vehicle</c:v>
                </c:pt>
                <c:pt idx="5">
                  <c:v>Head-on</c:v>
                </c:pt>
                <c:pt idx="6">
                  <c:v>Others</c:v>
                </c:pt>
                <c:pt idx="7">
                  <c:v>Hit from back</c:v>
                </c:pt>
                <c:pt idx="8">
                  <c:v>Hit from side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49.6</c:v>
                </c:pt>
                <c:pt idx="1">
                  <c:v>48.7</c:v>
                </c:pt>
                <c:pt idx="2">
                  <c:v>46.7</c:v>
                </c:pt>
                <c:pt idx="3">
                  <c:v>46.3</c:v>
                </c:pt>
                <c:pt idx="4">
                  <c:v>40.1</c:v>
                </c:pt>
                <c:pt idx="5">
                  <c:v>33.6</c:v>
                </c:pt>
                <c:pt idx="6">
                  <c:v>32.9</c:v>
                </c:pt>
                <c:pt idx="7">
                  <c:v>32.799999999999997</c:v>
                </c:pt>
                <c:pt idx="8">
                  <c:v>28.2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E3A-4177-A03A-4E6DC34027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t"/>
        <c:numFmt formatCode="#,##0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Number of accidents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3D4A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Straight road</c:v>
                </c:pt>
                <c:pt idx="1">
                  <c:v>Curved road</c:v>
                </c:pt>
                <c:pt idx="2">
                  <c:v>Others</c:v>
                </c:pt>
                <c:pt idx="3">
                  <c:v>Bridge</c:v>
                </c:pt>
                <c:pt idx="4">
                  <c:v>Road works</c:v>
                </c:pt>
                <c:pt idx="5">
                  <c:v>Culvert</c:v>
                </c:pt>
                <c:pt idx="6">
                  <c:v>Steep grade</c:v>
                </c:pt>
                <c:pt idx="7">
                  <c:v>Potholes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306855</c:v>
                </c:pt>
                <c:pt idx="1">
                  <c:v>64100</c:v>
                </c:pt>
                <c:pt idx="2">
                  <c:v>48068</c:v>
                </c:pt>
                <c:pt idx="3">
                  <c:v>16125</c:v>
                </c:pt>
                <c:pt idx="4">
                  <c:v>11539</c:v>
                </c:pt>
                <c:pt idx="5">
                  <c:v>9183</c:v>
                </c:pt>
                <c:pt idx="6">
                  <c:v>6305</c:v>
                </c:pt>
                <c:pt idx="7">
                  <c:v>4869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5-4834-86B9-BCD97DA15B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0000"/>
          <c:min val="0"/>
        </c:scaling>
        <c:delete val="1"/>
        <c:axPos val="t"/>
        <c:numFmt formatCode="#,##0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Deaths per 100 accidents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21-48AC-ACD5-017D3F3C92A0}"/>
              </c:ext>
            </c:extLst>
          </c:dPt>
          <c:dPt>
            <c:idx val="1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21-48AC-ACD5-017D3F3C92A0}"/>
              </c:ext>
            </c:extLst>
          </c:dPt>
          <c:dPt>
            <c:idx val="2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21-48AC-ACD5-017D3F3C92A0}"/>
              </c:ext>
            </c:extLst>
          </c:dPt>
          <c:dPt>
            <c:idx val="3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21-48AC-ACD5-017D3F3C92A0}"/>
              </c:ext>
            </c:extLst>
          </c:dPt>
          <c:dPt>
            <c:idx val="4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C21-48AC-ACD5-017D3F3C92A0}"/>
              </c:ext>
            </c:extLst>
          </c:dPt>
          <c:dPt>
            <c:idx val="5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C21-48AC-ACD5-017D3F3C92A0}"/>
              </c:ext>
            </c:extLst>
          </c:dPt>
          <c:dPt>
            <c:idx val="6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C21-48AC-ACD5-017D3F3C92A0}"/>
              </c:ext>
            </c:extLst>
          </c:dPt>
          <c:dPt>
            <c:idx val="7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C21-48AC-ACD5-017D3F3C92A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Potholes</c:v>
                </c:pt>
                <c:pt idx="1">
                  <c:v>Steep grade</c:v>
                </c:pt>
                <c:pt idx="2">
                  <c:v>Road works</c:v>
                </c:pt>
                <c:pt idx="3">
                  <c:v>Bridge</c:v>
                </c:pt>
                <c:pt idx="4">
                  <c:v>Others</c:v>
                </c:pt>
                <c:pt idx="5">
                  <c:v>Culvert</c:v>
                </c:pt>
                <c:pt idx="6">
                  <c:v>Straight road</c:v>
                </c:pt>
                <c:pt idx="7">
                  <c:v>Curved road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41.4</c:v>
                </c:pt>
                <c:pt idx="1">
                  <c:v>38.6</c:v>
                </c:pt>
                <c:pt idx="2">
                  <c:v>37.200000000000003</c:v>
                </c:pt>
                <c:pt idx="3">
                  <c:v>35.299999999999997</c:v>
                </c:pt>
                <c:pt idx="4">
                  <c:v>35.299999999999997</c:v>
                </c:pt>
                <c:pt idx="5">
                  <c:v>34.799999999999997</c:v>
                </c:pt>
                <c:pt idx="6">
                  <c:v>31.6</c:v>
                </c:pt>
                <c:pt idx="7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C21-48AC-ACD5-017D3F3C92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t"/>
        <c:numFmt formatCode="#,##0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B2-43C4-9943-2C93861F83D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BB2-43C4-9943-2C93861F83DB}"/>
              </c:ext>
            </c:extLst>
          </c:dPt>
          <c:dPt>
            <c:idx val="2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B2-43C4-9943-2C93861F83DB}"/>
              </c:ext>
            </c:extLst>
          </c:dPt>
          <c:dPt>
            <c:idx val="3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B2-43C4-9943-2C93861F83DB}"/>
              </c:ext>
            </c:extLst>
          </c:dPt>
          <c:dPt>
            <c:idx val="4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BB2-43C4-9943-2C93861F83DB}"/>
              </c:ext>
            </c:extLst>
          </c:dPt>
          <c:dPt>
            <c:idx val="5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BB2-43C4-9943-2C93861F83DB}"/>
              </c:ext>
            </c:extLst>
          </c:dPt>
          <c:dPt>
            <c:idx val="6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BB2-43C4-9943-2C93861F83DB}"/>
              </c:ext>
            </c:extLst>
          </c:dPt>
          <c:dPt>
            <c:idx val="7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BB2-43C4-9943-2C93861F83DB}"/>
              </c:ext>
            </c:extLst>
          </c:dPt>
          <c:dPt>
            <c:idx val="8"/>
            <c:invertIfNegative val="0"/>
            <c:bubble3D val="0"/>
            <c:spPr>
              <a:solidFill>
                <a:srgbClr val="9AA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BB2-43C4-9943-2C93861F83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Two-wheelers</c:v>
                </c:pt>
                <c:pt idx="1">
                  <c:v>Pedestrians</c:v>
                </c:pt>
                <c:pt idx="2">
                  <c:v>Cars, taxis, LMVs</c:v>
                </c:pt>
                <c:pt idx="3">
                  <c:v>Others</c:v>
                </c:pt>
                <c:pt idx="4">
                  <c:v>Trucks / lorries</c:v>
                </c:pt>
                <c:pt idx="5">
                  <c:v>Auto-rickshaws</c:v>
                </c:pt>
                <c:pt idx="6">
                  <c:v>Bicycles</c:v>
                </c:pt>
                <c:pt idx="7">
                  <c:v>Buses</c:v>
                </c:pt>
                <c:pt idx="8">
                  <c:v>Other non-motor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81780</c:v>
                </c:pt>
                <c:pt idx="1">
                  <c:v>36526</c:v>
                </c:pt>
                <c:pt idx="2">
                  <c:v>21988</c:v>
                </c:pt>
                <c:pt idx="3">
                  <c:v>11890</c:v>
                </c:pt>
                <c:pt idx="4">
                  <c:v>9687</c:v>
                </c:pt>
                <c:pt idx="5">
                  <c:v>5659</c:v>
                </c:pt>
                <c:pt idx="6">
                  <c:v>4161</c:v>
                </c:pt>
                <c:pt idx="7">
                  <c:v>3855</c:v>
                </c:pt>
                <c:pt idx="8">
                  <c:v>1629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BB2-43C4-9943-2C93861F83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00"/>
          <c:min val="0"/>
        </c:scaling>
        <c:delete val="0"/>
        <c:axPos val="t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Drivers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helmet</c:v>
                </c:pt>
                <c:pt idx="1">
                  <c:v>No seat belt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39470</c:v>
                </c:pt>
                <c:pt idx="1">
                  <c:v>7489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64-4856-928C-D855FCA702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Passengers</c:v>
                </c:pt>
              </c:strCache>
            </c:strRef>
          </c:tx>
          <c:spPr>
            <a:solidFill>
              <a:srgbClr val="9AA3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helmet</c:v>
                </c:pt>
                <c:pt idx="1">
                  <c:v>No seat belt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14652</c:v>
                </c:pt>
                <c:pt idx="1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64-4856-928C-D855FCA702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0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660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Deaths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3D4A5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&lt;18</c:v>
                </c:pt>
                <c:pt idx="1">
                  <c:v>18–25</c:v>
                </c:pt>
                <c:pt idx="2">
                  <c:v>25–35</c:v>
                </c:pt>
                <c:pt idx="3">
                  <c:v>35–45</c:v>
                </c:pt>
                <c:pt idx="4">
                  <c:v>45–60</c:v>
                </c:pt>
                <c:pt idx="5">
                  <c:v>60+</c:v>
                </c:pt>
                <c:pt idx="6">
                  <c:v>Not known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7817</c:v>
                </c:pt>
                <c:pt idx="1">
                  <c:v>28835</c:v>
                </c:pt>
                <c:pt idx="2">
                  <c:v>34943</c:v>
                </c:pt>
                <c:pt idx="3">
                  <c:v>28210</c:v>
                </c:pt>
                <c:pt idx="4">
                  <c:v>19343</c:v>
                </c:pt>
                <c:pt idx="5">
                  <c:v>7343</c:v>
                </c:pt>
                <c:pt idx="6">
                  <c:v>3653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0-4822-A2AA-1A05539BAA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&lt;18</c:v>
                </c:pt>
                <c:pt idx="1">
                  <c:v>18–25</c:v>
                </c:pt>
                <c:pt idx="2">
                  <c:v>25–35</c:v>
                </c:pt>
                <c:pt idx="3">
                  <c:v>35–45</c:v>
                </c:pt>
                <c:pt idx="4">
                  <c:v>45–60</c:v>
                </c:pt>
                <c:pt idx="5">
                  <c:v>60+</c:v>
                </c:pt>
                <c:pt idx="6">
                  <c:v>Not known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2160</c:v>
                </c:pt>
                <c:pt idx="1">
                  <c:v>3942</c:v>
                </c:pt>
                <c:pt idx="2">
                  <c:v>5017</c:v>
                </c:pt>
                <c:pt idx="3">
                  <c:v>4462</c:v>
                </c:pt>
                <c:pt idx="4">
                  <c:v>3455</c:v>
                </c:pt>
                <c:pt idx="5">
                  <c:v>1732</c:v>
                </c:pt>
                <c:pt idx="6">
                  <c:v>505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70-4822-A2AA-1A05539BA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660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F2329"/>
                </a:solidFill>
                <a:latin typeface="+mn-lt"/>
              </a:rPr>
              <a:t>Accidents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 licence</c:v>
                </c:pt>
              </c:strCache>
            </c:strRef>
          </c:tx>
          <c:spPr>
            <a:ln w="31750" cap="flat">
              <a:solidFill>
                <a:srgbClr val="3D4A5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3D4A57"/>
              </a:solidFill>
              <a:ln w="9525" cap="flat">
                <a:solidFill>
                  <a:srgbClr val="3D4A5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264991</c:v>
                </c:pt>
                <c:pt idx="1">
                  <c:v>290261</c:v>
                </c:pt>
                <c:pt idx="2">
                  <c:v>320235</c:v>
                </c:pt>
                <c:pt idx="3">
                  <c:v>340960</c:v>
                </c:pt>
                <c:pt idx="4">
                  <c:v>332462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3B-4075-AB9D-6E64B9A59C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known</c:v>
                </c:pt>
              </c:strCache>
            </c:strRef>
          </c:tx>
          <c:spPr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53357</c:v>
                </c:pt>
                <c:pt idx="1">
                  <c:v>65805</c:v>
                </c:pt>
                <c:pt idx="2">
                  <c:v>86854</c:v>
                </c:pt>
                <c:pt idx="3">
                  <c:v>89722</c:v>
                </c:pt>
                <c:pt idx="4">
                  <c:v>103404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3B-4075-AB9D-6E64B9A59C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Without valid licence</c:v>
                </c:pt>
              </c:strCache>
            </c:strRef>
          </c:tx>
          <c:spPr>
            <a:ln w="31750" cap="flat">
              <a:solidFill>
                <a:srgbClr val="E07A1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34716</c:v>
                </c:pt>
                <c:pt idx="1">
                  <c:v>37182</c:v>
                </c:pt>
                <c:pt idx="2">
                  <c:v>35925</c:v>
                </c:pt>
                <c:pt idx="3">
                  <c:v>33827</c:v>
                </c:pt>
                <c:pt idx="4">
                  <c:v>35347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3B-4075-AB9D-6E64B9A59C5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Learner's licence</c:v>
                </c:pt>
              </c:strCache>
            </c:strRef>
          </c:tx>
          <c:spPr>
            <a:ln w="31750" cap="flat">
              <a:solidFill>
                <a:srgbClr val="9AA3A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A3AB"/>
              </a:solidFill>
              <a:ln w="9525" cap="flat">
                <a:solidFill>
                  <a:srgbClr val="9AA3A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19117</c:v>
                </c:pt>
                <c:pt idx="1">
                  <c:v>19184</c:v>
                </c:pt>
                <c:pt idx="2">
                  <c:v>18298</c:v>
                </c:pt>
                <c:pt idx="3">
                  <c:v>16074</c:v>
                </c:pt>
                <c:pt idx="4">
                  <c:v>16494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3B-4075-AB9D-6E64B9A59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660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67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exploratory study of road accidents in India using official government data, organised around three questions — patterns, causes and high-risk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figures come from the MoRTH annual series used in the notebook (annual 2020-2024 file). 1,77,175 deaths / 365 ≈ 485 per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raw CSV files were loaded with pandas. They come from different report years, so each analysis uses the most recent file available for that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files were kept untouched; cleaned versions saved separately so the ML stage can reuse them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from back causes the most deaths overall, but hit-and-run kills almost half its victims — the injured person is left on the road without help. Overturns and run-off-road crashes are similarly deadly.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accidents happen on straight roads, probably because people drive fast there. But per accident, potholes (41.4), steep grades and road works are the most deadly — poor road condition is a high-risk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Road Accident Analysis in India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 Analysis in India: Patterns, Causes, and High-Risk Factors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Data Collection, Cleaning and Exploratory Data Analysis (EDA)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Data: MoRTH Road Accident Reports  ·  data.gov.in  ·  WHO   |   Tools: Python, pandas, NumPy, Matplotlib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study road accidents in India?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Road crashes kill more Indians every year than almost any other preventable cause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 lakh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road accidents recorded in 2024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1.77 lakh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people killed in 2024 (≈ 485 per day)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4.71 lakh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people injured in 2024</a:t>
            </a:r>
            <a:endParaRPr lang="en-US" sz="1300" dirty="0"/>
          </a:p>
        </p:txBody>
      </p:sp>
      <p:sp>
        <p:nvSpPr>
          <p:cNvPr id="10" name="objectives"/>
          <p:cNvSpPr/>
          <p:nvPr/>
        </p:nvSpPr>
        <p:spPr>
          <a:xfrm>
            <a:off x="548640" y="3566160"/>
            <a:ext cx="110642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 objectives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44032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4297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Patterns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9377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How have accidents and deaths changed over time, and which states and cities are worst affected?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80560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206" y="4440326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66360" y="4297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Causes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480560" y="49377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Which traffic violations, collision types and road conditions lead to the most deaths?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92440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086" y="444032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778240" y="4297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High-risk factors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49377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Who is most at risk — by road-user type, safety-device use, age, gender and licence?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collected: 16 datasets, 2008 – 2024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Official MoRTH reports and data.gov.in, plus WHO data for the country comparison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11782"/>
              </p:ext>
            </p:extLst>
          </p:nvPr>
        </p:nvGraphicFramePr>
        <p:xfrm>
          <a:off x="548640" y="1691640"/>
          <a:ext cx="11064240" cy="40965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accidents / deaths / injuries; vehicle registrations &amp; road 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 –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&amp; cities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State-wise accidents and fatalities; 50 cities by traffic violation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–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violation; type of collision; road features (potholes, curves, bridges…)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2018, 2023 –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Over-speeding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State-wise persons killed and injured due to exceeding lawful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 – 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Road-user category; victim vs crime vehicle; helmet / seat-belt; age &amp; gender; licence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 –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deaths per 1 lakh people — India vs 12 countries / regions (WHO)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found in the raw data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Every file needed cleaning before any numbers could be analysed</a:t>
            </a:r>
            <a:endParaRPr lang="en-US" sz="1600" dirty="0"/>
          </a:p>
        </p:txBody>
      </p:sp>
      <p:sp>
        <p:nvSpPr>
          <p:cNvPr id="4" name="problem1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Numbers stored as text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Indian comma format, e.g. "3,72,181" — no maths possible</a:t>
            </a:r>
            <a:endParaRPr lang="en-US" sz="1300" dirty="0"/>
          </a:p>
        </p:txBody>
      </p:sp>
      <p:sp>
        <p:nvSpPr>
          <p:cNvPr id="9" name="problem2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Extra "% share" rows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Percentage rows mixed in between the real data rows</a:t>
            </a:r>
            <a:endParaRPr lang="en-US" sz="1300" dirty="0"/>
          </a:p>
        </p:txBody>
      </p:sp>
      <p:sp>
        <p:nvSpPr>
          <p:cNvPr id="14" name="problem3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&amp; footnote rows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"All India" totals and notes at the bottom of tables</a:t>
            </a:r>
            <a:endParaRPr lang="en-US" sz="1300" dirty="0"/>
          </a:p>
        </p:txBody>
      </p:sp>
      <p:sp>
        <p:nvSpPr>
          <p:cNvPr id="19" name="problem4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06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Empty columns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00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Blank columns such as "Unnamed: 8"</a:t>
            </a:r>
            <a:endParaRPr lang="en-US" sz="1300" dirty="0"/>
          </a:p>
        </p:txBody>
      </p:sp>
      <p:sp>
        <p:nvSpPr>
          <p:cNvPr id="24" name="problem5"/>
          <p:cNvSpPr/>
          <p:nvPr/>
        </p:nvSpPr>
        <p:spPr>
          <a:xfrm>
            <a:off x="4297680" y="393192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206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values (NA)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00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Up to 52 nulls per file — states not yet formed, data not reported</a:t>
            </a:r>
            <a:endParaRPr lang="en-US" sz="1300" dirty="0"/>
          </a:p>
        </p:txBody>
      </p:sp>
      <p:sp>
        <p:nvSpPr>
          <p:cNvPr id="29" name="problem6"/>
          <p:cNvSpPr/>
          <p:nvPr/>
        </p:nvSpPr>
        <p:spPr>
          <a:xfrm>
            <a:off x="8046720" y="393192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206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Provisional flags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800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Values like "6498 (P)" in road-length data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was cleaned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Each missing value was handled according to why it was missing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589520" cy="3968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Telangana before 2014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Filled with 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State did not exist until 2014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Other gaps in speed data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Filled with the state's own average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Keeps each state's typical level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Ladakh 2020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Filled with 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Counted inside J&amp;K that year (per footnote)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Vehicles / road length 2023–24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Rows dropped for vehicle analysis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Values not published; cannot be guessed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Rank &amp; % change columns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Dropped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Held most nulls; recomputed when needed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Text numbers, '(P)' flags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Custom make_numeric() function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Strips commas, converts to numbers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sult"/>
          <p:cNvSpPr/>
          <p:nvPr/>
        </p:nvSpPr>
        <p:spPr>
          <a:xfrm>
            <a:off x="8503920" y="1691640"/>
            <a:ext cx="3108960" cy="39776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3"/>
          <p:cNvSpPr/>
          <p:nvPr/>
        </p:nvSpPr>
        <p:spPr>
          <a:xfrm>
            <a:off x="87782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86" y="20628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4640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Result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3429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clean CSV files saved to a separate cleaned_data folder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778240" y="4069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null values left in any cleaned dataset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approach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 EDA follows the three questions in the project title</a:t>
            </a:r>
            <a:endParaRPr lang="en-US" sz="1600" dirty="0"/>
          </a:p>
        </p:txBody>
      </p:sp>
      <p:sp>
        <p:nvSpPr>
          <p:cNvPr id="4" name="step1"/>
          <p:cNvSpPr/>
          <p:nvPr/>
        </p:nvSpPr>
        <p:spPr>
          <a:xfrm>
            <a:off x="548640" y="2011680"/>
            <a:ext cx="2057400" cy="31089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2860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694" y="24405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1. Collect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16 CSV files from MoRTH, data.gov.in and WHO</a:t>
            </a:r>
            <a:endParaRPr lang="en-US" sz="1300" dirty="0"/>
          </a:p>
        </p:txBody>
      </p:sp>
      <p:sp>
        <p:nvSpPr>
          <p:cNvPr id="9" name="step2"/>
          <p:cNvSpPr/>
          <p:nvPr/>
        </p:nvSpPr>
        <p:spPr>
          <a:xfrm>
            <a:off x="2816352" y="2011680"/>
            <a:ext cx="2057400" cy="31089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22860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406" y="24405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3512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2. Clean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99232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Fix types, remove junk rows, handle missing values</a:t>
            </a:r>
            <a:endParaRPr lang="en-US" sz="1300" dirty="0"/>
          </a:p>
        </p:txBody>
      </p:sp>
      <p:sp>
        <p:nvSpPr>
          <p:cNvPr id="14" name="step3"/>
          <p:cNvSpPr/>
          <p:nvPr/>
        </p:nvSpPr>
        <p:spPr>
          <a:xfrm>
            <a:off x="5084064" y="2011680"/>
            <a:ext cx="2057400" cy="31089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5815584" y="2286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118" y="24405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21224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3. Part A — Patterns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266944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Trends, severity, states, cities, world comparison</a:t>
            </a:r>
            <a:endParaRPr lang="en-US" sz="1300" dirty="0"/>
          </a:p>
        </p:txBody>
      </p:sp>
      <p:sp>
        <p:nvSpPr>
          <p:cNvPr id="19" name="step4"/>
          <p:cNvSpPr/>
          <p:nvPr/>
        </p:nvSpPr>
        <p:spPr>
          <a:xfrm>
            <a:off x="7351776" y="2011680"/>
            <a:ext cx="2057400" cy="31089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8083296" y="2286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830" y="24405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8936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4. Part B — Causes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534656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Violations, over-speeding, collisions, road features</a:t>
            </a:r>
            <a:endParaRPr lang="en-US" sz="1300" dirty="0"/>
          </a:p>
        </p:txBody>
      </p:sp>
      <p:sp>
        <p:nvSpPr>
          <p:cNvPr id="24" name="step5"/>
          <p:cNvSpPr/>
          <p:nvPr/>
        </p:nvSpPr>
        <p:spPr>
          <a:xfrm>
            <a:off x="9619488" y="2011680"/>
            <a:ext cx="2057400" cy="31089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51008" y="2286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5542" y="24405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56648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5. Part C — Risk factors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802368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Road users, safety devices, age, gender, licence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Key metric used throughout: severity = deaths per 100 accidents — it shows how deadly accidents are, not just how many happen.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A: Patterns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Trends over time, severity, states, cities and global comparison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 keep rising even when accidents fall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Road deaths grew 26% from 2014 to 2024 while accidents stayed flat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rendInsight"/>
          <p:cNvSpPr/>
          <p:nvPr/>
        </p:nvSpPr>
        <p:spPr>
          <a:xfrm>
            <a:off x="8229600" y="164592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1540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2316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COVID dip: </a:t>
            </a:r>
            <a:r>
              <a:rPr lang="en-US" sz="1400" dirty="0">
                <a:solidFill>
                  <a:schemeClr val="tx1"/>
                </a:solidFill>
              </a:rPr>
              <a:t>accidents fell to 3.72 lakh in the 2020 lockdown.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Recovery: </a:t>
            </a:r>
            <a:r>
              <a:rPr lang="en-US" sz="1400" dirty="0">
                <a:solidFill>
                  <a:schemeClr val="tx1"/>
                </a:solidFill>
              </a:rPr>
              <a:t>by 2024 accidents were back near pre-COVID levels (4.88 lakh).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Deaths up: </a:t>
            </a:r>
            <a:r>
              <a:rPr lang="en-US" sz="1400" dirty="0">
                <a:solidFill>
                  <a:schemeClr val="tx1"/>
                </a:solidFill>
              </a:rPr>
              <a:t>1.40 lakh (2014) → 1.77 lakh (2024), +26.4%. Accidents are becoming more deadly.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road accidents, registrations &amp; density 2014–24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36 of every 100 accidents end in a death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National severity has barely moved in five years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7665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evStats"/>
          <p:cNvSpPr/>
          <p:nvPr/>
        </p:nvSpPr>
        <p:spPr>
          <a:xfrm>
            <a:off x="7680960" y="1645920"/>
            <a:ext cx="3931920" cy="434340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deaths per 100 accidents in 2024 (India average)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251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point change from 2020 to 2024 — very little improvement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This severity value is used as the benchmark for states, violations and collision types in the rest of the deck.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annual road accidents 2020–2024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nearly doubled; risk per vehicle fell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Safer per vehicle, but the fast-growing fleet still pushes total deaths up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vehInsight"/>
          <p:cNvSpPr/>
          <p:nvPr/>
        </p:nvSpPr>
        <p:spPr>
          <a:xfrm>
            <a:off x="8229600" y="164592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1540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2316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Fleet: </a:t>
            </a:r>
            <a:r>
              <a:rPr lang="en-US" sz="1400" dirty="0">
                <a:solidFill>
                  <a:schemeClr val="tx1"/>
                </a:solidFill>
              </a:rPr>
              <a:t>19 crore vehicles (2014) → 35.4 crore (2022).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Death rate: </a:t>
            </a:r>
            <a:r>
              <a:rPr lang="en-US" sz="1400" dirty="0">
                <a:solidFill>
                  <a:schemeClr val="tx1"/>
                </a:solidFill>
              </a:rPr>
              <a:t>7.0 → 4.8 deaths per 10,000 vehicles.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Net effect: </a:t>
            </a:r>
            <a:r>
              <a:rPr lang="en-US" sz="1400" dirty="0">
                <a:solidFill>
                  <a:schemeClr val="tx1"/>
                </a:solidFill>
              </a:rPr>
              <a:t>the per-vehicle gain is outpaced by fleet growth, so total deaths keep rising.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registrations &amp; density 2014–22 (2023–24 not published)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states account for nearly half of all deaths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Top 10 states by accidents (left) and deaths (right), 2024</a:t>
            </a:r>
            <a:endParaRPr lang="en-US" sz="1600" dirty="0"/>
          </a:p>
        </p:txBody>
      </p:sp>
      <p:pic>
        <p:nvPicPr>
          <p:cNvPr id="4" name="Image 0" descr="img/A5_top10_states_accidents_de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303"/>
            <a:ext cx="8138160" cy="2870913"/>
          </a:xfrm>
          <a:prstGeom prst="rect">
            <a:avLst/>
          </a:prstGeom>
        </p:spPr>
      </p:pic>
      <p:sp>
        <p:nvSpPr>
          <p:cNvPr id="5" name="topStates"/>
          <p:cNvSpPr/>
          <p:nvPr/>
        </p:nvSpPr>
        <p:spPr>
          <a:xfrm>
            <a:off x="8961120" y="1645920"/>
            <a:ext cx="2651760" cy="43434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2354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of all 2024 road deaths come from UP, TN, Maharashtra, MP and Karnataka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3520440"/>
            <a:ext cx="2240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UP: </a:t>
            </a:r>
            <a:r>
              <a:rPr lang="en-US" sz="1300" dirty="0">
                <a:solidFill>
                  <a:schemeClr val="tx1"/>
                </a:solidFill>
              </a:rPr>
              <a:t>most deaths (24,118)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Tamil Nadu: </a:t>
            </a:r>
            <a:r>
              <a:rPr lang="en-US" sz="1300" dirty="0">
                <a:solidFill>
                  <a:schemeClr val="tx1"/>
                </a:solidFill>
              </a:rPr>
              <a:t>most accidents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Kerala: </a:t>
            </a:r>
            <a:r>
              <a:rPr lang="en-US" sz="1300" dirty="0">
                <a:solidFill>
                  <a:schemeClr val="tx1"/>
                </a:solidFill>
              </a:rPr>
              <a:t>3rd in accidents, not in top 10 for deaths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state-wise accidents and fatalities 2024 (notebook figure A5)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varies 10× between states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Deaths per 100 accidents, 2024 — five most and five least severe states (≥1,000 accidents)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evInsight"/>
          <p:cNvSpPr/>
          <p:nvPr/>
        </p:nvSpPr>
        <p:spPr>
          <a:xfrm>
            <a:off x="8229600" y="164592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1540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2316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Bihar, Jharkhand, Punjab: </a:t>
            </a:r>
            <a:r>
              <a:rPr lang="en-US" sz="1400" dirty="0">
                <a:solidFill>
                  <a:schemeClr val="tx1"/>
                </a:solidFill>
              </a:rPr>
              <a:t>~80 deaths per 100 accidents — over 2× the national average.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Kerala: </a:t>
            </a:r>
            <a:r>
              <a:rPr lang="en-US" sz="1400" dirty="0">
                <a:solidFill>
                  <a:schemeClr val="tx1"/>
                </a:solidFill>
              </a:rPr>
              <a:t>only 7.9, the lowest.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r>
              <a:rPr lang="en-US" sz="1400" dirty="0">
                <a:solidFill>
                  <a:schemeClr val="tx1"/>
                </a:solidFill>
              </a:rPr>
              <a:t>under-reporting of minor crashes and differences in trauma care can explain the gap.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Computed from MoRTH state-wise data 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deaths are growing fastest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% increase in road deaths, 2020 → 2024 (states with ≥1,000 deaths in 2020)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7665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rr"/>
          <p:cNvSpPr/>
          <p:nvPr/>
        </p:nvSpPr>
        <p:spPr>
          <a:xfrm>
            <a:off x="7680960" y="1645920"/>
            <a:ext cx="3931920" cy="434340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926" y="20628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41080" y="1920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Accidents vs deaths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955280" y="2606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0.86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correlation between state accidents and deaths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955280" y="4069080"/>
            <a:ext cx="3429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Outliers: </a:t>
            </a:r>
            <a:r>
              <a:rPr lang="en-US" sz="1300" dirty="0">
                <a:solidFill>
                  <a:schemeClr val="tx1"/>
                </a:solidFill>
              </a:rPr>
              <a:t>UP far above the trend (very deadly); Kerala far below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Note: </a:t>
            </a:r>
            <a:r>
              <a:rPr lang="en-US" sz="1300" dirty="0">
                <a:solidFill>
                  <a:schemeClr val="tx1"/>
                </a:solidFill>
              </a:rPr>
              <a:t>2020 was a lockdown year, so some growth is expected everywhere.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Computed from MoRTH state-wise fatalities 2020–2024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 leads all cities in road deaths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Top 10 cities by road deaths, 2024</a:t>
            </a:r>
            <a:endParaRPr lang="en-US" sz="1600" dirty="0"/>
          </a:p>
        </p:txBody>
      </p:sp>
      <p:pic>
        <p:nvPicPr>
          <p:cNvPr id="4" name="Image 0" descr="img/A9_top10_cities_de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02" y="1600200"/>
            <a:ext cx="6813435" cy="4389120"/>
          </a:xfrm>
          <a:prstGeom prst="rect">
            <a:avLst/>
          </a:prstGeom>
        </p:spPr>
      </p:pic>
      <p:sp>
        <p:nvSpPr>
          <p:cNvPr id="5" name="cities"/>
          <p:cNvSpPr/>
          <p:nvPr/>
        </p:nvSpPr>
        <p:spPr>
          <a:xfrm>
            <a:off x="813816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26" y="20628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1,551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3429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deaths in Delhi in 2024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4069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Almost double Bengaluru (894) and Jaipur (860), the next two cities.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2024, 50 million-plus cities (notebook figure A9)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vs the world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Road deaths per 1 lakh people, 2019 — India sits near the world average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worldInsight"/>
          <p:cNvSpPr/>
          <p:nvPr/>
        </p:nvSpPr>
        <p:spPr>
          <a:xfrm>
            <a:off x="8229600" y="164592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1540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2316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Rate: </a:t>
            </a:r>
            <a:r>
              <a:rPr lang="en-US" sz="1400" dirty="0">
                <a:solidFill>
                  <a:schemeClr val="tx1"/>
                </a:solidFill>
              </a:rPr>
              <a:t>India 15.6 per lakh — equal to South Asia, below the world (16.7).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Scale: </a:t>
            </a:r>
            <a:r>
              <a:rPr lang="en-US" sz="1400" dirty="0">
                <a:solidFill>
                  <a:schemeClr val="tx1"/>
                </a:solidFill>
              </a:rPr>
              <a:t>with 140 crore people, even an average rate means the world's largest absolute toll.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WHO via Data For India, 2019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B: Causes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Traffic violations, over-speeding, collision types and road conditions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Over-speeding causes 70% of road deaths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Share of 2024 deaths by traffic violation, and how deadly each one is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0350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691640"/>
          <a:ext cx="4663440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Violation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Deaths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Severity*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Mobile phone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2,002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40.6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Drunk driving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3,204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38.7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Wrong side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8,327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37.0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Others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38,592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36.6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Over-speeding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1,24,522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36.1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Red light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528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</a:rPr>
                        <a:t>33.9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949440" y="4937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*Deaths per 100 accidents. Mobile-phone use and drunk driving are rarer but the most deadly per accident.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type of traffic violation 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Over-speeding deaths rose 25% in 2008–2016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All-India persons killed and injured in over-speeding accidents</a:t>
            </a:r>
            <a:endParaRPr lang="en-US" sz="1600" dirty="0"/>
          </a:p>
        </p:txBody>
      </p:sp>
      <p:pic>
        <p:nvPicPr>
          <p:cNvPr id="4" name="Image 0" descr="img/B2_overspeeding_trend_2008_2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5425"/>
            <a:ext cx="7223760" cy="3898669"/>
          </a:xfrm>
          <a:prstGeom prst="rect">
            <a:avLst/>
          </a:prstGeom>
        </p:spPr>
      </p:pic>
      <p:sp>
        <p:nvSpPr>
          <p:cNvPr id="5" name="speed"/>
          <p:cNvSpPr/>
          <p:nvPr/>
        </p:nvSpPr>
        <p:spPr>
          <a:xfrm>
            <a:off x="813816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26" y="20628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59,246 → 73,896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people killed due to over-speeding, 2008 vs 2016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38862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Top states: </a:t>
            </a:r>
            <a:r>
              <a:rPr lang="en-US" sz="1300" dirty="0">
                <a:solidFill>
                  <a:schemeClr val="tx1"/>
                </a:solidFill>
              </a:rPr>
              <a:t>Maharashtra and Tamil Nadu, followed by Karnataka and Andhra Pradesh.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Persistent: </a:t>
            </a:r>
            <a:r>
              <a:rPr lang="en-US" sz="1300" dirty="0">
                <a:solidFill>
                  <a:schemeClr val="tx1"/>
                </a:solidFill>
              </a:rPr>
              <a:t>speed was the main killer a decade ago and still is in 2024.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data.gov.in, accidents due to exceeding lawful speed 2008–2016 (notebook figure B2)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Hit-and-run is the deadliest collision type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2024 deaths by type of collision, with severity (deaths per 100 accidents)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7132320" y="1645920"/>
          <a:ext cx="44805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type of collision 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Potholes are the most deadly road condition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Accidents and severity by road feature, 2018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5486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645920"/>
          <a:ext cx="53035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Road Accidents in India 2018, Annexure 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city has a different main cause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Reasons for road deaths in the top 10 cities, 2024</a:t>
            </a:r>
            <a:endParaRPr lang="en-US" sz="1600" dirty="0"/>
          </a:p>
        </p:txBody>
      </p:sp>
      <p:pic>
        <p:nvPicPr>
          <p:cNvPr id="4" name="Image 0" descr="img/B5_city_violation_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43" y="1600200"/>
            <a:ext cx="7060153" cy="4389120"/>
          </a:xfrm>
          <a:prstGeom prst="rect">
            <a:avLst/>
          </a:prstGeom>
        </p:spPr>
      </p:pic>
      <p:sp>
        <p:nvSpPr>
          <p:cNvPr id="5" name="cityInsight"/>
          <p:cNvSpPr/>
          <p:nvPr/>
        </p:nvSpPr>
        <p:spPr>
          <a:xfrm>
            <a:off x="813816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23960" y="1874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24231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Speed: </a:t>
            </a:r>
            <a:r>
              <a:rPr lang="en-US" sz="1400" dirty="0">
                <a:solidFill>
                  <a:schemeClr val="tx1"/>
                </a:solidFill>
              </a:rPr>
              <a:t>almost all deaths in Bengaluru, Jaipur, Raipur and Jabalpur.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Kanpur: </a:t>
            </a:r>
            <a:r>
              <a:rPr lang="en-US" sz="1400" dirty="0">
                <a:solidFill>
                  <a:schemeClr val="tx1"/>
                </a:solidFill>
              </a:rPr>
              <a:t>high share of drunk driving and mobile use.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Prayagraj: </a:t>
            </a:r>
            <a:r>
              <a:rPr lang="en-US" sz="1400" dirty="0">
                <a:solidFill>
                  <a:schemeClr val="tx1"/>
                </a:solidFill>
              </a:rPr>
              <a:t>many wrong-side deaths.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Delhi, Chennai: </a:t>
            </a:r>
            <a:r>
              <a:rPr lang="en-US" sz="1400" dirty="0">
                <a:solidFill>
                  <a:schemeClr val="tx1"/>
                </a:solidFill>
              </a:rPr>
              <a:t>large "Others" — cause not recorded.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2024 city-wise fatalities by violation (notebook figure B5)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C: High-Risk Factors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Who is dying — road users, safety devices, age, gender and licence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Two-wheeler riders and pedestrians: 2 in 3 deaths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Persons killed by road-user category, 2024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users"/>
          <p:cNvSpPr/>
          <p:nvPr/>
        </p:nvSpPr>
        <p:spPr>
          <a:xfrm>
            <a:off x="7863840" y="1645920"/>
            <a:ext cx="3749040" cy="434340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06" y="20628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2396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46.2%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two-wheeler riders (81,780)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138160" y="3429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06" y="35716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2396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3600" dirty="0"/>
          </a:p>
        </p:txBody>
      </p:sp>
      <p:sp>
        <p:nvSpPr>
          <p:cNvPr id="13" name="Text 8"/>
          <p:cNvSpPr txBox="1"/>
          <p:nvPr/>
        </p:nvSpPr>
        <p:spPr>
          <a:xfrm>
            <a:off x="882396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pedestrians (36,526)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4892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Both groups grew in 2024 (+5.5% and +3.7%) — the most vulnerable road users.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fatality by road-user category 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hits whom?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Deaths by victim (rows) and the vehicle that caused the crash (columns), 2024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863840" cy="420624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Victim ↓  /  Crime vehicle →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Bicycle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Two Wheeler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Car/Taxi/LMV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Truck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Bus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Non-Motor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Others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Pedestrian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76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10,378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44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1,256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95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9,302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48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5,165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1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2,257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235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7,857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5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Bicycle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1,137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98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248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3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1,039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B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718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6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333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C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563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A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Two Wheeler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247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3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30,561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2,620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18,682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28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14,017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4,485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67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495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1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10,673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4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Auto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602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AC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1,196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97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1,461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0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1,151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98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508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0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608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AB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Car/Taxi/LMV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147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F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3,344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72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645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A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8,705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5,240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1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1,570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212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7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2,125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Truck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1,846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8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293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1,563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3,717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6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666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9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117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3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1,400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Bus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59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740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6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147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F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564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AD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792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4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958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9E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86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509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Non-Motor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298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E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157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374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251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3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171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B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138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207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</a:rPr>
                        <a:t>Others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3,632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6F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406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B6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2,072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4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1,311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4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526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AF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199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</a:rPr>
                        <a:t>3,645</a:t>
                      </a:r>
                      <a:endParaRPr lang="en-US" sz="1100" dirty="0"/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6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matrixInsight"/>
          <p:cNvSpPr/>
          <p:nvPr/>
        </p:nvSpPr>
        <p:spPr>
          <a:xfrm>
            <a:off x="8732520" y="1645920"/>
            <a:ext cx="2880360" cy="434340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18320" y="1874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006840" y="242316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30,561 </a:t>
            </a:r>
            <a:r>
              <a:rPr lang="en-US" sz="1400" dirty="0">
                <a:solidFill>
                  <a:schemeClr val="tx1"/>
                </a:solidFill>
              </a:rPr>
              <a:t>two-wheeler riders killed by other two-wheelers — the largest cell.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Cars &amp; trucks </a:t>
            </a:r>
            <a:r>
              <a:rPr lang="en-US" sz="1400" dirty="0">
                <a:solidFill>
                  <a:schemeClr val="tx1"/>
                </a:solidFill>
              </a:rPr>
              <a:t>kill another 32,699 two-wheeler riders.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Pedestrians </a:t>
            </a:r>
            <a:r>
              <a:rPr lang="en-US" sz="1400" dirty="0">
                <a:solidFill>
                  <a:schemeClr val="tx1"/>
                </a:solidFill>
              </a:rPr>
              <a:t>are hit mostly by two-wheelers and cars.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victims vs crime vehicle 2024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helmet: linked to 2 in 3 two-wheeler deaths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Deaths of people not using safety devices, 2024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0350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helmet"/>
          <p:cNvSpPr/>
          <p:nvPr/>
        </p:nvSpPr>
        <p:spPr>
          <a:xfrm>
            <a:off x="6949440" y="1645920"/>
            <a:ext cx="46634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22376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406" y="20628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23760" y="2560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54,122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deaths without a helmet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418320" y="2560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66.2%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941832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of all two-wheeler deaths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4023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14,466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deaths without a seat belt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418320" y="4023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of helmet deaths were pillion passengers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non-use of safety devices 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men are the most affected group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Road deaths by age group and gender, 2018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age"/>
          <p:cNvSpPr/>
          <p:nvPr/>
        </p:nvSpPr>
        <p:spPr>
          <a:xfrm>
            <a:off x="8229600" y="164592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920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of people killed are male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of deaths are aged 18–45; 25–35 is the peak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Working-age victims — a heavy loss for families and the economy.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 Road Accidents in India 2018, Table 2.9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licence does not mean safe driving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Accidents by driver's licence type, 2020–2024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licInsight"/>
          <p:cNvSpPr/>
          <p:nvPr/>
        </p:nvSpPr>
        <p:spPr>
          <a:xfrm>
            <a:off x="8229600" y="164592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9202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1540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23160"/>
            <a:ext cx="2880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~68% </a:t>
            </a:r>
            <a:r>
              <a:rPr lang="en-US" sz="1400" dirty="0">
                <a:solidFill>
                  <a:schemeClr val="tx1"/>
                </a:solidFill>
              </a:rPr>
              <a:t>of accidents involve drivers with a valid licence.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"Not known" </a:t>
            </a:r>
            <a:r>
              <a:rPr lang="en-US" sz="1400" dirty="0">
                <a:solidFill>
                  <a:schemeClr val="tx1"/>
                </a:solidFill>
              </a:rPr>
              <a:t>nearly doubled: 53k → 1.03 lakh, a growing data-recording gap.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Implication: </a:t>
            </a:r>
            <a:r>
              <a:rPr lang="en-US" sz="1400" dirty="0">
                <a:solidFill>
                  <a:schemeClr val="tx1"/>
                </a:solidFill>
              </a:rPr>
              <a:t>licensing quality and testing matter more than licence possession.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MoRTH, type of driving licence 2020–2024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findings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Answers to the three questions in the project title</a:t>
            </a:r>
            <a:endParaRPr lang="en-US" sz="1600" dirty="0"/>
          </a:p>
        </p:txBody>
      </p:sp>
      <p:sp>
        <p:nvSpPr>
          <p:cNvPr id="4" name="sum0"/>
          <p:cNvSpPr/>
          <p:nvPr/>
        </p:nvSpPr>
        <p:spPr>
          <a:xfrm>
            <a:off x="54864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Patterns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Deaths +26% (2014–24) while accidents stayed flat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~36 deaths per 100 accidents nationally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states = 48% of deaths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Bihar, Jharkhand, Punjab ~80 per 100; Kerala ~8</a:t>
            </a:r>
            <a:endParaRPr lang="en-US" sz="1400" dirty="0"/>
          </a:p>
        </p:txBody>
      </p:sp>
      <p:sp>
        <p:nvSpPr>
          <p:cNvPr id="9" name="sum1"/>
          <p:cNvSpPr/>
          <p:nvPr/>
        </p:nvSpPr>
        <p:spPr>
          <a:xfrm>
            <a:off x="429768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Causes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9748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Over-speeding: ~70% of deaths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phone &amp; drunk driving deadliest per accident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Hit-and-run &amp; overturns: ~50 deaths per 100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Potholes: deadliest road condition (41.4)</a:t>
            </a:r>
            <a:endParaRPr lang="en-US" sz="1400" dirty="0"/>
          </a:p>
        </p:txBody>
      </p:sp>
      <p:sp>
        <p:nvSpPr>
          <p:cNvPr id="14" name="sum2"/>
          <p:cNvSpPr/>
          <p:nvPr/>
        </p:nvSpPr>
        <p:spPr>
          <a:xfrm>
            <a:off x="804672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20628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High-risk factors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9748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Two-wheeler riders (46%) and pedestrians (21%)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helmet: 66% of two-wheeler deaths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Males 86%; ages 18–45 ≈ 70%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68% of crashes by licensed drivers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actions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Measures that follow from the findings</a:t>
            </a:r>
            <a:endParaRPr lang="en-US" sz="1600" dirty="0"/>
          </a:p>
        </p:txBody>
      </p:sp>
      <p:sp>
        <p:nvSpPr>
          <p:cNvPr id="4" name="rec0"/>
          <p:cNvSpPr/>
          <p:nvPr/>
        </p:nvSpPr>
        <p:spPr>
          <a:xfrm>
            <a:off x="548640" y="164592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14792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Enforce speed limits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94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Speed cameras and penalties on highways and city corridors — speed drives ~70% of deaths.</a:t>
            </a:r>
            <a:endParaRPr lang="en-US" sz="1300" dirty="0"/>
          </a:p>
        </p:txBody>
      </p:sp>
      <p:sp>
        <p:nvSpPr>
          <p:cNvPr id="9" name="rec1"/>
          <p:cNvSpPr/>
          <p:nvPr/>
        </p:nvSpPr>
        <p:spPr>
          <a:xfrm>
            <a:off x="6172200" y="164592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933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21479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Helmets for rider and pillion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194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Strict helmet checks, including passengers (27% of helmet deaths).</a:t>
            </a:r>
            <a:endParaRPr lang="en-US" sz="1300" dirty="0"/>
          </a:p>
        </p:txBody>
      </p:sp>
      <p:sp>
        <p:nvSpPr>
          <p:cNvPr id="14" name="rec2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4564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361096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Protect pedestrians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Footpaths, safe crossings and traffic calming where two-wheelers and cars mix with walkers.</a:t>
            </a:r>
            <a:endParaRPr lang="en-US" sz="1300" dirty="0"/>
          </a:p>
        </p:txBody>
      </p:sp>
      <p:sp>
        <p:nvSpPr>
          <p:cNvPr id="19" name="rec3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4564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054" y="361096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Faster trauma care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Golden-hour ambulance and trauma centres in high-severity states (Bihar, Jharkhand, Punjab, UP).</a:t>
            </a:r>
            <a:endParaRPr lang="en-US" sz="1300" dirty="0"/>
          </a:p>
        </p:txBody>
      </p:sp>
      <p:sp>
        <p:nvSpPr>
          <p:cNvPr id="24" name="rec4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91947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494" y="507400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709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 road defects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Prioritise pothole repair and safe signage at road works and steep grades.</a:t>
            </a:r>
            <a:endParaRPr lang="en-US" sz="1300" dirty="0"/>
          </a:p>
        </p:txBody>
      </p:sp>
      <p:sp>
        <p:nvSpPr>
          <p:cNvPr id="29" name="rec5"/>
          <p:cNvSpPr/>
          <p:nvPr/>
        </p:nvSpPr>
        <p:spPr>
          <a:xfrm>
            <a:off x="617220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6446520" y="491947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054" y="507400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23760" y="4709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Improve data recording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22376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Reduce "Others" and "Not known" entries so causes can be targeted.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What the data cannot tell us yet, and where the project goes next</a:t>
            </a:r>
            <a:endParaRPr lang="en-US" sz="1600" dirty="0"/>
          </a:p>
        </p:txBody>
      </p:sp>
      <p:sp>
        <p:nvSpPr>
          <p:cNvPr id="4" name="limits"/>
          <p:cNvSpPr/>
          <p:nvPr/>
        </p:nvSpPr>
        <p:spPr>
          <a:xfrm>
            <a:off x="548640" y="1645920"/>
            <a:ext cx="539496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limitations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State-level aggregates only — no accident-level records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Files span different years (2008 – 2024), so topics are not directly comparable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Some years and states have missing values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Many cases recorded as "Others" or "Not known"</a:t>
            </a:r>
            <a:endParaRPr lang="en-US" sz="1500" dirty="0"/>
          </a:p>
        </p:txBody>
      </p:sp>
      <p:sp>
        <p:nvSpPr>
          <p:cNvPr id="9" name="next"/>
          <p:cNvSpPr/>
          <p:nvPr/>
        </p:nvSpPr>
        <p:spPr>
          <a:xfrm>
            <a:off x="6217920" y="1645920"/>
            <a:ext cx="539496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Next steps (Part 2)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9748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 engineering on the 18 cleaned datasets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Cluster states into risk levels (e.g. K-Means on accidents, deaths, severity, growth)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a model to predict accident severity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Turn results into targeted, state-specific recommendations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Road Accident Analysis in India: Patterns, Causes, and High-Risk Factors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 Safety">
  <a:themeElements>
    <a:clrScheme name="Road Safety">
      <a:dk1>
        <a:srgbClr val="1F2329"/>
      </a:dk1>
      <a:lt1>
        <a:srgbClr val="FFFFFF"/>
      </a:lt1>
      <a:dk2>
        <a:srgbClr val="56606A"/>
      </a:dk2>
      <a:lt2>
        <a:srgbClr val="F2F3F5"/>
      </a:lt2>
      <a:accent1>
        <a:srgbClr val="F2A900"/>
      </a:accent1>
      <a:accent2>
        <a:srgbClr val="C8102E"/>
      </a:accent2>
      <a:accent3>
        <a:srgbClr val="3D4A57"/>
      </a:accent3>
      <a:accent4>
        <a:srgbClr val="9AA3AB"/>
      </a:accent4>
      <a:accent5>
        <a:srgbClr val="2E8B57"/>
      </a:accent5>
      <a:accent6>
        <a:srgbClr val="E07A1F"/>
      </a:accent6>
      <a:hlink>
        <a:srgbClr val="0563C1"/>
      </a:hlink>
      <a:folHlink>
        <a:srgbClr val="954F72"/>
      </a:folHlink>
    </a:clrScheme>
    <a:fontScheme name="Road Safe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2635</Words>
  <Application>Microsoft Office PowerPoint</Application>
  <PresentationFormat>Widescreen</PresentationFormat>
  <Paragraphs>467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Road Safety</vt:lpstr>
      <vt:lpstr>Road Accident Analysis in India: Patterns, Causes, and High-Risk Factors</vt:lpstr>
      <vt:lpstr>Why study road accidents in India?</vt:lpstr>
      <vt:lpstr>Data collected: 16 datasets, 2008 – 2024</vt:lpstr>
      <vt:lpstr>Problems found in the raw data</vt:lpstr>
      <vt:lpstr>How the data was cleaned</vt:lpstr>
      <vt:lpstr>Analysis approach</vt:lpstr>
      <vt:lpstr>Part A: Patterns</vt:lpstr>
      <vt:lpstr>Deaths keep rising even when accidents fall</vt:lpstr>
      <vt:lpstr>About 36 of every 100 accidents end in a death</vt:lpstr>
      <vt:lpstr>Vehicles nearly doubled; risk per vehicle fell</vt:lpstr>
      <vt:lpstr>Five states account for nearly half of all deaths</vt:lpstr>
      <vt:lpstr>Severity varies 10× between states</vt:lpstr>
      <vt:lpstr>Where deaths are growing fastest</vt:lpstr>
      <vt:lpstr>Delhi leads all cities in road deaths</vt:lpstr>
      <vt:lpstr>India vs the world</vt:lpstr>
      <vt:lpstr>Part B: Causes</vt:lpstr>
      <vt:lpstr>Over-speeding causes 70% of road deaths</vt:lpstr>
      <vt:lpstr>Over-speeding deaths rose 25% in 2008–2016</vt:lpstr>
      <vt:lpstr>Hit-and-run is the deadliest collision type</vt:lpstr>
      <vt:lpstr>Potholes are the most deadly road condition</vt:lpstr>
      <vt:lpstr>Each city has a different main cause</vt:lpstr>
      <vt:lpstr>Part C: High-Risk Factors</vt:lpstr>
      <vt:lpstr>Two-wheeler riders and pedestrians: 2 in 3 deaths</vt:lpstr>
      <vt:lpstr>Who hits whom?</vt:lpstr>
      <vt:lpstr>No helmet: linked to 2 in 3 two-wheeler deaths</vt:lpstr>
      <vt:lpstr>Young men are the most affected group</vt:lpstr>
      <vt:lpstr>A valid licence does not mean safe driving</vt:lpstr>
      <vt:lpstr>Summary of findings</vt:lpstr>
      <vt:lpstr>Suggested actions</vt:lpstr>
      <vt:lpstr>Limitations and next steps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Analysis in India</dc:title>
  <dc:subject>PptxGenJS Presentation</dc:subject>
  <dc:creator>Tony</dc:creator>
  <cp:lastModifiedBy>dony infant</cp:lastModifiedBy>
  <cp:revision>1</cp:revision>
  <dcterms:created xsi:type="dcterms:W3CDTF">2026-10-09T14:34:00Z</dcterms:created>
  <dcterms:modified xsi:type="dcterms:W3CDTF">2026-10-09T14:40:13Z</dcterms:modified>
</cp:coreProperties>
</file>